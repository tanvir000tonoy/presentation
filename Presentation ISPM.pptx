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2D5FA3"/>
    <a:srgbClr val="7A8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94"/>
  </p:normalViewPr>
  <p:slideViewPr>
    <p:cSldViewPr snapToGrid="0">
      <p:cViewPr varScale="1">
        <p:scale>
          <a:sx n="121" d="100"/>
          <a:sy n="121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80DA75-F6D6-7E4D-8337-28FEF674447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78C6C-CA89-C045-8333-027D6ECAA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55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78C6C-CA89-C045-8333-027D6ECAA3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83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65FC-E090-F84E-8C07-F1BBD0C8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88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65FC-E090-F84E-8C07-F1BBD0C8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1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65FC-E090-F84E-8C07-F1BBD0C8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38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65FC-E090-F84E-8C07-F1BBD0C8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7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65FC-E090-F84E-8C07-F1BBD0C8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41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65FC-E090-F84E-8C07-F1BBD0C8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65FC-E090-F84E-8C07-F1BBD0C8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6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65FC-E090-F84E-8C07-F1BBD0C8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9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65FC-E090-F84E-8C07-F1BBD0C8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1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65FC-E090-F84E-8C07-F1BBD0C8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7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65FC-E090-F84E-8C07-F1BBD0C8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75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652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465FC-E090-F84E-8C07-F1BBD0C8C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3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quest.com/scholarly-journals/agile-waterfall-iterative-approach-information/docview/2561948753/se-2?accountid=3055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roquest.com/scholarly-journals/applicability-waterfall-agile-methodologies/docview/2903041222/se-2?accountid=30552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93C06E-0F8E-EE8D-00B6-26BC0C86CE67}"/>
              </a:ext>
            </a:extLst>
          </p:cNvPr>
          <p:cNvSpPr txBox="1"/>
          <p:nvPr/>
        </p:nvSpPr>
        <p:spPr>
          <a:xfrm>
            <a:off x="787101" y="2208755"/>
            <a:ext cx="1061779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C000"/>
                </a:solidFill>
              </a:rPr>
              <a:t>Information Technology </a:t>
            </a:r>
          </a:p>
          <a:p>
            <a:pPr algn="ctr"/>
            <a:r>
              <a:rPr lang="en-US" sz="4800" b="1" dirty="0">
                <a:effectLst/>
              </a:rPr>
              <a:t> </a:t>
            </a:r>
            <a:r>
              <a:rPr lang="en-US" sz="4800" b="1" dirty="0">
                <a:solidFill>
                  <a:srgbClr val="002060"/>
                </a:solidFill>
                <a:effectLst/>
              </a:rPr>
              <a:t>Project </a:t>
            </a:r>
            <a:r>
              <a:rPr lang="en-US" sz="4800" b="1" dirty="0">
                <a:solidFill>
                  <a:srgbClr val="002060"/>
                </a:solidFill>
              </a:rPr>
              <a:t>M</a:t>
            </a:r>
            <a:r>
              <a:rPr lang="en-US" sz="4800" b="1" dirty="0">
                <a:solidFill>
                  <a:srgbClr val="002060"/>
                </a:solidFill>
                <a:effectLst/>
              </a:rPr>
              <a:t>anagement </a:t>
            </a:r>
            <a:r>
              <a:rPr lang="en-US" sz="4800" b="1" dirty="0">
                <a:solidFill>
                  <a:srgbClr val="002060"/>
                </a:solidFill>
              </a:rPr>
              <a:t>M</a:t>
            </a:r>
            <a:r>
              <a:rPr lang="en-US" sz="4800" b="1" dirty="0">
                <a:solidFill>
                  <a:srgbClr val="002060"/>
                </a:solidFill>
                <a:effectLst/>
              </a:rPr>
              <a:t>ethodologies </a:t>
            </a:r>
            <a:endParaRPr lang="en-US" sz="4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00914-D759-8305-0F16-9B83D2E057F4}"/>
              </a:ext>
            </a:extLst>
          </p:cNvPr>
          <p:cNvSpPr txBox="1"/>
          <p:nvPr/>
        </p:nvSpPr>
        <p:spPr>
          <a:xfrm>
            <a:off x="10931033" y="110365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alpha val="21150"/>
                  </a:schemeClr>
                </a:solidFill>
                <a:latin typeface="Arial Rounded MT Bold" panose="020F0704030504030204" pitchFamily="34" charset="77"/>
              </a:rPr>
              <a:t>HS2061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6395B2-555C-BAF4-31AC-B831B12AC7DE}"/>
              </a:ext>
            </a:extLst>
          </p:cNvPr>
          <p:cNvSpPr txBox="1"/>
          <p:nvPr/>
        </p:nvSpPr>
        <p:spPr>
          <a:xfrm>
            <a:off x="355600" y="295031"/>
            <a:ext cx="277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alpha val="18000"/>
                  </a:schemeClr>
                </a:solidFill>
                <a:latin typeface="Arial Rounded MT Bold" panose="020F0704030504030204" pitchFamily="34" charset="77"/>
              </a:rPr>
              <a:t>Selected Topic </a:t>
            </a:r>
          </a:p>
        </p:txBody>
      </p:sp>
      <p:sp>
        <p:nvSpPr>
          <p:cNvPr id="17" name="Slide Number Placeholder 19">
            <a:extLst>
              <a:ext uri="{FF2B5EF4-FFF2-40B4-BE49-F238E27FC236}">
                <a16:creationId xmlns:a16="http://schemas.microsoft.com/office/drawing/2014/main" id="{BF68FC85-EB05-E341-B581-1AE17EE0F5AF}"/>
              </a:ext>
            </a:extLst>
          </p:cNvPr>
          <p:cNvSpPr txBox="1">
            <a:spLocks/>
          </p:cNvSpPr>
          <p:nvPr/>
        </p:nvSpPr>
        <p:spPr>
          <a:xfrm>
            <a:off x="9133042" y="6192535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3465FC-E090-F84E-8C07-F1BBD0C8CE12}" type="slidenum">
              <a:rPr lang="en-US" sz="4000" smtClean="0">
                <a:solidFill>
                  <a:srgbClr val="FFC000">
                    <a:alpha val="21150"/>
                  </a:srgbClr>
                </a:solidFill>
                <a:latin typeface="Arial Rounded MT Bold" panose="020F0704030504030204" pitchFamily="34" charset="77"/>
              </a:rPr>
              <a:pPr/>
              <a:t>1</a:t>
            </a:fld>
            <a:endParaRPr lang="en-US" sz="4000" dirty="0">
              <a:solidFill>
                <a:srgbClr val="FFC000">
                  <a:alpha val="21150"/>
                </a:srgb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7E372-B0B0-C5DA-433B-672B12E01B8F}"/>
              </a:ext>
            </a:extLst>
          </p:cNvPr>
          <p:cNvSpPr txBox="1"/>
          <p:nvPr/>
        </p:nvSpPr>
        <p:spPr>
          <a:xfrm>
            <a:off x="2745101" y="3878702"/>
            <a:ext cx="6701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 Rounded MT Bold" panose="020F0704030504030204" pitchFamily="34" charset="77"/>
              </a:rPr>
              <a:t>Traditional VS Agile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2AE085-7CED-F8BB-23FE-7FB66197B060}"/>
              </a:ext>
            </a:extLst>
          </p:cNvPr>
          <p:cNvSpPr txBox="1"/>
          <p:nvPr/>
        </p:nvSpPr>
        <p:spPr>
          <a:xfrm>
            <a:off x="446354" y="6283651"/>
            <a:ext cx="491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>
                    <a:alpha val="21150"/>
                  </a:schemeClr>
                </a:solidFill>
                <a:latin typeface="Arial Rounded MT Bold" panose="020F0704030504030204" pitchFamily="34" charset="77"/>
              </a:rPr>
              <a:t>Information Systems Project Management</a:t>
            </a:r>
            <a:endParaRPr lang="en-US" dirty="0">
              <a:solidFill>
                <a:schemeClr val="tx1">
                  <a:alpha val="21150"/>
                </a:scheme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6B76B93-7D29-7F42-E541-0108DA35FED9}"/>
              </a:ext>
            </a:extLst>
          </p:cNvPr>
          <p:cNvSpPr/>
          <p:nvPr/>
        </p:nvSpPr>
        <p:spPr>
          <a:xfrm>
            <a:off x="540906" y="6607264"/>
            <a:ext cx="246195" cy="45719"/>
          </a:xfrm>
          <a:prstGeom prst="roundRect">
            <a:avLst>
              <a:gd name="adj" fmla="val 50000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80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D85608-B02A-1C83-09B2-BF6EE3EE5263}"/>
              </a:ext>
            </a:extLst>
          </p:cNvPr>
          <p:cNvSpPr txBox="1"/>
          <p:nvPr/>
        </p:nvSpPr>
        <p:spPr>
          <a:xfrm>
            <a:off x="10931033" y="110365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alpha val="21150"/>
                  </a:schemeClr>
                </a:solidFill>
                <a:latin typeface="Arial Rounded MT Bold" panose="020F0704030504030204" pitchFamily="34" charset="77"/>
              </a:rPr>
              <a:t>HS2061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8508E3-F78E-AE68-D6F1-3C8DE53E34A0}"/>
              </a:ext>
            </a:extLst>
          </p:cNvPr>
          <p:cNvSpPr txBox="1"/>
          <p:nvPr/>
        </p:nvSpPr>
        <p:spPr>
          <a:xfrm>
            <a:off x="4970451" y="742565"/>
            <a:ext cx="68659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 Rounded MT Bold" panose="020F0704030504030204" pitchFamily="34" charset="77"/>
              </a:rPr>
              <a:t>Introduction 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579A24-D627-25F8-21FF-A3C2DE55FA50}"/>
              </a:ext>
            </a:extLst>
          </p:cNvPr>
          <p:cNvGrpSpPr/>
          <p:nvPr/>
        </p:nvGrpSpPr>
        <p:grpSpPr>
          <a:xfrm>
            <a:off x="5698970" y="2012615"/>
            <a:ext cx="5408909" cy="1193370"/>
            <a:chOff x="1886366" y="2453237"/>
            <a:chExt cx="5408909" cy="1193370"/>
          </a:xfrm>
          <a:noFill/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7892F0FB-1572-EA95-6729-55D42A1E8F6D}"/>
                </a:ext>
              </a:extLst>
            </p:cNvPr>
            <p:cNvSpPr/>
            <p:nvPr/>
          </p:nvSpPr>
          <p:spPr>
            <a:xfrm>
              <a:off x="1886366" y="2453237"/>
              <a:ext cx="5408909" cy="1193370"/>
            </a:xfrm>
            <a:prstGeom prst="roundRect">
              <a:avLst/>
            </a:prstGeom>
            <a:solidFill>
              <a:srgbClr val="FF9300"/>
            </a:solidFill>
            <a:ln>
              <a:solidFill>
                <a:srgbClr val="FF93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1AC4B2-F352-78FE-C713-82F34EA68F5D}"/>
                </a:ext>
              </a:extLst>
            </p:cNvPr>
            <p:cNvSpPr txBox="1"/>
            <p:nvPr/>
          </p:nvSpPr>
          <p:spPr>
            <a:xfrm>
              <a:off x="2167239" y="2720165"/>
              <a:ext cx="4847161" cy="40011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Arial Rounded MT Bold" panose="020F0704030504030204" pitchFamily="34" charset="77"/>
                </a:rPr>
                <a:t>Student Name 	: Tanvir Rahman Tonoy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3FD465C-0ADB-5BBC-DC8D-E72271A7B5BE}"/>
                </a:ext>
              </a:extLst>
            </p:cNvPr>
            <p:cNvSpPr txBox="1"/>
            <p:nvPr/>
          </p:nvSpPr>
          <p:spPr>
            <a:xfrm>
              <a:off x="2186650" y="3021770"/>
              <a:ext cx="2850460" cy="40011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Arial Rounded MT Bold" panose="020F0704030504030204" pitchFamily="34" charset="77"/>
                </a:rPr>
                <a:t>Student ID 	: STN3121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983FE47-6048-15B8-CDDF-D64115B2EF8A}"/>
              </a:ext>
            </a:extLst>
          </p:cNvPr>
          <p:cNvSpPr txBox="1"/>
          <p:nvPr/>
        </p:nvSpPr>
        <p:spPr>
          <a:xfrm>
            <a:off x="355600" y="295031"/>
            <a:ext cx="401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alpha val="18000"/>
                  </a:schemeClr>
                </a:solidFill>
                <a:latin typeface="Arial Rounded MT Bold" panose="020F0704030504030204" pitchFamily="34" charset="77"/>
              </a:rPr>
              <a:t>Introduction &amp; Outline 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C939F80-9AF6-0E1A-4153-B2E83CC37896}"/>
              </a:ext>
            </a:extLst>
          </p:cNvPr>
          <p:cNvGrpSpPr/>
          <p:nvPr/>
        </p:nvGrpSpPr>
        <p:grpSpPr>
          <a:xfrm>
            <a:off x="673951" y="4361752"/>
            <a:ext cx="1869196" cy="1435457"/>
            <a:chOff x="1644471" y="3961681"/>
            <a:chExt cx="1869196" cy="1435457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572E88D1-766B-7629-DCEA-6DF1AF19EC86}"/>
                </a:ext>
              </a:extLst>
            </p:cNvPr>
            <p:cNvSpPr/>
            <p:nvPr/>
          </p:nvSpPr>
          <p:spPr>
            <a:xfrm>
              <a:off x="1644471" y="3961681"/>
              <a:ext cx="1869196" cy="143545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ACBFF04-2E53-9306-EC2D-7898880A4A96}"/>
                </a:ext>
              </a:extLst>
            </p:cNvPr>
            <p:cNvSpPr txBox="1"/>
            <p:nvPr/>
          </p:nvSpPr>
          <p:spPr>
            <a:xfrm>
              <a:off x="1716315" y="4079244"/>
              <a:ext cx="1725508" cy="12003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rial Rounded MT Bold" panose="020F0704030504030204" pitchFamily="34" charset="77"/>
                </a:rPr>
                <a:t>Traditional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Arial Rounded MT Bold" panose="020F0704030504030204" pitchFamily="34" charset="77"/>
                </a:rPr>
                <a:t>&amp;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Arial Rounded MT Bold" panose="020F0704030504030204" pitchFamily="34" charset="77"/>
                </a:rPr>
                <a:t>Agile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Arial Rounded MT Bold" panose="020F0704030504030204" pitchFamily="34" charset="77"/>
                </a:rPr>
                <a:t>Methodology 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467F601-79B5-CA85-5B69-B5E493638446}"/>
              </a:ext>
            </a:extLst>
          </p:cNvPr>
          <p:cNvGrpSpPr/>
          <p:nvPr/>
        </p:nvGrpSpPr>
        <p:grpSpPr>
          <a:xfrm>
            <a:off x="7032229" y="4363542"/>
            <a:ext cx="2279150" cy="1435457"/>
            <a:chOff x="5792817" y="3916071"/>
            <a:chExt cx="2279150" cy="1435457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2866229-8723-A774-0118-4E3092599A6D}"/>
                </a:ext>
              </a:extLst>
            </p:cNvPr>
            <p:cNvGrpSpPr/>
            <p:nvPr/>
          </p:nvGrpSpPr>
          <p:grpSpPr>
            <a:xfrm>
              <a:off x="6202771" y="3916071"/>
              <a:ext cx="1869196" cy="1435457"/>
              <a:chOff x="6202771" y="3916071"/>
              <a:chExt cx="1869196" cy="1435457"/>
            </a:xfrm>
          </p:grpSpPr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07A226B7-3D6B-3C3E-BE41-6708439BD920}"/>
                  </a:ext>
                </a:extLst>
              </p:cNvPr>
              <p:cNvSpPr/>
              <p:nvPr/>
            </p:nvSpPr>
            <p:spPr>
              <a:xfrm>
                <a:off x="6202771" y="3916071"/>
                <a:ext cx="1869196" cy="1435457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5EF090B-2CA6-8358-AE88-503FF229D5B1}"/>
                  </a:ext>
                </a:extLst>
              </p:cNvPr>
              <p:cNvSpPr txBox="1"/>
              <p:nvPr/>
            </p:nvSpPr>
            <p:spPr>
              <a:xfrm>
                <a:off x="6274615" y="4277508"/>
                <a:ext cx="1725508" cy="8002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Arial Rounded MT Bold" panose="020F0704030504030204" pitchFamily="34" charset="77"/>
                  </a:rPr>
                  <a:t>Critique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Arial Rounded MT Bold" panose="020F0704030504030204" pitchFamily="34" charset="77"/>
                  </a:rPr>
                  <a:t>Article </a:t>
                </a:r>
                <a:r>
                  <a:rPr lang="en-US" sz="2800" dirty="0">
                    <a:solidFill>
                      <a:schemeClr val="bg1"/>
                    </a:solidFill>
                    <a:latin typeface="Arial Rounded MT Bold" panose="020F0704030504030204" pitchFamily="34" charset="77"/>
                  </a:rPr>
                  <a:t>2</a:t>
                </a:r>
                <a:endParaRPr lang="en-US" dirty="0">
                  <a:solidFill>
                    <a:schemeClr val="bg1"/>
                  </a:solidFill>
                  <a:latin typeface="Arial Rounded MT Bold" panose="020F0704030504030204" pitchFamily="34" charset="77"/>
                </a:endParaRPr>
              </a:p>
            </p:txBody>
          </p: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5D307BA-1945-5694-FE8E-8BA24AD75D64}"/>
                </a:ext>
              </a:extLst>
            </p:cNvPr>
            <p:cNvCxnSpPr>
              <a:cxnSpLocks/>
            </p:cNvCxnSpPr>
            <p:nvPr/>
          </p:nvCxnSpPr>
          <p:spPr>
            <a:xfrm>
              <a:off x="5792817" y="4561862"/>
              <a:ext cx="409954" cy="0"/>
            </a:xfrm>
            <a:prstGeom prst="line">
              <a:avLst/>
            </a:prstGeom>
            <a:ln w="117475"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17259A6-3EC4-7112-0D7F-11E13267D5AC}"/>
              </a:ext>
            </a:extLst>
          </p:cNvPr>
          <p:cNvGrpSpPr/>
          <p:nvPr/>
        </p:nvGrpSpPr>
        <p:grpSpPr>
          <a:xfrm>
            <a:off x="4753079" y="4361752"/>
            <a:ext cx="2279150" cy="1435457"/>
            <a:chOff x="3513667" y="3914281"/>
            <a:chExt cx="2279150" cy="143545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DA32621-E89F-82F2-47EB-3DE123EB7A23}"/>
                </a:ext>
              </a:extLst>
            </p:cNvPr>
            <p:cNvGrpSpPr/>
            <p:nvPr/>
          </p:nvGrpSpPr>
          <p:grpSpPr>
            <a:xfrm>
              <a:off x="3923621" y="3914281"/>
              <a:ext cx="1869196" cy="1435457"/>
              <a:chOff x="3923621" y="3961681"/>
              <a:chExt cx="1869196" cy="1435457"/>
            </a:xfrm>
          </p:grpSpPr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F39A11BB-0E33-E00C-0DA6-D5F72BBB26CF}"/>
                  </a:ext>
                </a:extLst>
              </p:cNvPr>
              <p:cNvSpPr/>
              <p:nvPr/>
            </p:nvSpPr>
            <p:spPr>
              <a:xfrm>
                <a:off x="3923621" y="3961681"/>
                <a:ext cx="1869196" cy="1435457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12EE2D3-C1BC-B711-882C-830C383E857D}"/>
                  </a:ext>
                </a:extLst>
              </p:cNvPr>
              <p:cNvSpPr txBox="1"/>
              <p:nvPr/>
            </p:nvSpPr>
            <p:spPr>
              <a:xfrm>
                <a:off x="3995465" y="4279298"/>
                <a:ext cx="1725508" cy="8002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Arial Rounded MT Bold" panose="020F0704030504030204" pitchFamily="34" charset="77"/>
                  </a:rPr>
                  <a:t>Critique Article </a:t>
                </a:r>
                <a:r>
                  <a:rPr lang="en-US" sz="2800" dirty="0">
                    <a:solidFill>
                      <a:schemeClr val="bg1"/>
                    </a:solidFill>
                    <a:latin typeface="Arial Rounded MT Bold" panose="020F0704030504030204" pitchFamily="34" charset="77"/>
                  </a:rPr>
                  <a:t>1</a:t>
                </a:r>
                <a:endParaRPr lang="en-US" dirty="0">
                  <a:solidFill>
                    <a:schemeClr val="bg1"/>
                  </a:solidFill>
                  <a:latin typeface="Arial Rounded MT Bold" panose="020F0704030504030204" pitchFamily="34" charset="77"/>
                </a:endParaRPr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FC786B8-B464-0329-5160-D0653A7CDCD1}"/>
                </a:ext>
              </a:extLst>
            </p:cNvPr>
            <p:cNvCxnSpPr>
              <a:cxnSpLocks/>
            </p:cNvCxnSpPr>
            <p:nvPr/>
          </p:nvCxnSpPr>
          <p:spPr>
            <a:xfrm>
              <a:off x="3513667" y="4586519"/>
              <a:ext cx="409954" cy="0"/>
            </a:xfrm>
            <a:prstGeom prst="line">
              <a:avLst/>
            </a:prstGeom>
            <a:ln w="117475"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4B801C67-211F-7D1A-DF03-6597A1E71179}"/>
              </a:ext>
            </a:extLst>
          </p:cNvPr>
          <p:cNvSpPr txBox="1"/>
          <p:nvPr/>
        </p:nvSpPr>
        <p:spPr>
          <a:xfrm>
            <a:off x="745795" y="3512730"/>
            <a:ext cx="686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Arial Rounded MT Bold" panose="020F0704030504030204" pitchFamily="34" charset="77"/>
              </a:rPr>
              <a:t>Outline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412230D-5DA3-9A32-E48E-965372F23484}"/>
              </a:ext>
            </a:extLst>
          </p:cNvPr>
          <p:cNvGrpSpPr/>
          <p:nvPr/>
        </p:nvGrpSpPr>
        <p:grpSpPr>
          <a:xfrm>
            <a:off x="2508538" y="4365064"/>
            <a:ext cx="2279150" cy="1435457"/>
            <a:chOff x="3513667" y="3914281"/>
            <a:chExt cx="2279150" cy="143545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10119DB-E5F5-9117-3C25-C8DEC913D4A2}"/>
                </a:ext>
              </a:extLst>
            </p:cNvPr>
            <p:cNvGrpSpPr/>
            <p:nvPr/>
          </p:nvGrpSpPr>
          <p:grpSpPr>
            <a:xfrm>
              <a:off x="3923621" y="3914281"/>
              <a:ext cx="1869196" cy="1435457"/>
              <a:chOff x="3923621" y="3961681"/>
              <a:chExt cx="1869196" cy="1435457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C5FDAAE3-ABC0-9486-8CDC-D9E3C804132F}"/>
                  </a:ext>
                </a:extLst>
              </p:cNvPr>
              <p:cNvSpPr/>
              <p:nvPr/>
            </p:nvSpPr>
            <p:spPr>
              <a:xfrm>
                <a:off x="3923621" y="3961681"/>
                <a:ext cx="1869196" cy="1435457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A93DC1C-CAC6-8DD9-8636-82F5892F3FC6}"/>
                  </a:ext>
                </a:extLst>
              </p:cNvPr>
              <p:cNvSpPr txBox="1"/>
              <p:nvPr/>
            </p:nvSpPr>
            <p:spPr>
              <a:xfrm>
                <a:off x="3978160" y="4383288"/>
                <a:ext cx="172550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Arial Rounded MT Bold" panose="020F0704030504030204" pitchFamily="34" charset="77"/>
                    <a:ea typeface="Calibri" pitchFamily="34" charset="-122"/>
                    <a:cs typeface="Calibri" pitchFamily="34" charset="-120"/>
                  </a:rPr>
                  <a:t>Comparative Analysis</a:t>
                </a:r>
                <a:endParaRPr lang="en-US" dirty="0">
                  <a:solidFill>
                    <a:schemeClr val="bg1"/>
                  </a:solidFill>
                  <a:latin typeface="Arial Rounded MT Bold" panose="020F0704030504030204" pitchFamily="34" charset="77"/>
                </a:endParaRPr>
              </a:p>
            </p:txBody>
          </p:sp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5DCC6DE-00B9-13D5-7B9C-CCF591E93568}"/>
                </a:ext>
              </a:extLst>
            </p:cNvPr>
            <p:cNvCxnSpPr>
              <a:cxnSpLocks/>
            </p:cNvCxnSpPr>
            <p:nvPr/>
          </p:nvCxnSpPr>
          <p:spPr>
            <a:xfrm>
              <a:off x="3513667" y="4586519"/>
              <a:ext cx="409954" cy="0"/>
            </a:xfrm>
            <a:prstGeom prst="line">
              <a:avLst/>
            </a:prstGeom>
            <a:ln w="117475"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2D3836E-EEAA-62E6-75DC-8A3B1BE2943A}"/>
              </a:ext>
            </a:extLst>
          </p:cNvPr>
          <p:cNvGrpSpPr/>
          <p:nvPr/>
        </p:nvGrpSpPr>
        <p:grpSpPr>
          <a:xfrm>
            <a:off x="9239535" y="4361752"/>
            <a:ext cx="2279150" cy="1435457"/>
            <a:chOff x="3513667" y="3914281"/>
            <a:chExt cx="2279150" cy="143545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54C6802-3C49-D9BD-6D76-B27FD9BF5865}"/>
                </a:ext>
              </a:extLst>
            </p:cNvPr>
            <p:cNvGrpSpPr/>
            <p:nvPr/>
          </p:nvGrpSpPr>
          <p:grpSpPr>
            <a:xfrm>
              <a:off x="3923621" y="3914281"/>
              <a:ext cx="1869196" cy="1435457"/>
              <a:chOff x="3923621" y="3961681"/>
              <a:chExt cx="1869196" cy="1435457"/>
            </a:xfrm>
          </p:grpSpPr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CF5E38E1-460F-83E7-1EF5-A4991AC7482C}"/>
                  </a:ext>
                </a:extLst>
              </p:cNvPr>
              <p:cNvSpPr/>
              <p:nvPr/>
            </p:nvSpPr>
            <p:spPr>
              <a:xfrm>
                <a:off x="3923621" y="3961681"/>
                <a:ext cx="1869196" cy="1435457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11A09F-0450-6237-84D0-4CC07B3EEA03}"/>
                  </a:ext>
                </a:extLst>
              </p:cNvPr>
              <p:cNvSpPr txBox="1"/>
              <p:nvPr/>
            </p:nvSpPr>
            <p:spPr>
              <a:xfrm>
                <a:off x="3995465" y="4124854"/>
                <a:ext cx="1725508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Arial Rounded MT Bold" panose="020F0704030504030204" pitchFamily="34" charset="77"/>
                  </a:rPr>
                  <a:t>References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Arial Rounded MT Bold" panose="020F0704030504030204" pitchFamily="34" charset="77"/>
                  </a:rPr>
                  <a:t>________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Arial Rounded MT Bold" panose="020F0704030504030204" pitchFamily="34" charset="77"/>
                  </a:rPr>
                  <a:t> </a:t>
                </a:r>
                <a:br>
                  <a:rPr lang="en-US" dirty="0">
                    <a:solidFill>
                      <a:schemeClr val="bg1"/>
                    </a:solidFill>
                    <a:latin typeface="Arial Rounded MT Bold" panose="020F0704030504030204" pitchFamily="34" charset="77"/>
                  </a:rPr>
                </a:br>
                <a:r>
                  <a:rPr lang="en-US" dirty="0">
                    <a:solidFill>
                      <a:schemeClr val="bg1"/>
                    </a:solidFill>
                    <a:latin typeface="Arial Rounded MT Bold" panose="020F0704030504030204" pitchFamily="34" charset="77"/>
                  </a:rPr>
                  <a:t>Q&amp;A </a:t>
                </a:r>
              </a:p>
            </p:txBody>
          </p: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B9CBEDD-A5FA-A7B2-E3FA-5CB4D8DEE02C}"/>
                </a:ext>
              </a:extLst>
            </p:cNvPr>
            <p:cNvCxnSpPr>
              <a:cxnSpLocks/>
            </p:cNvCxnSpPr>
            <p:nvPr/>
          </p:nvCxnSpPr>
          <p:spPr>
            <a:xfrm>
              <a:off x="3513667" y="4586519"/>
              <a:ext cx="409954" cy="0"/>
            </a:xfrm>
            <a:prstGeom prst="line">
              <a:avLst/>
            </a:prstGeom>
            <a:ln w="117475"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83DCA9B-3DA1-7A97-4B79-65BF57C80211}"/>
              </a:ext>
            </a:extLst>
          </p:cNvPr>
          <p:cNvSpPr txBox="1"/>
          <p:nvPr/>
        </p:nvSpPr>
        <p:spPr>
          <a:xfrm>
            <a:off x="446354" y="6283651"/>
            <a:ext cx="491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>
                    <a:alpha val="21150"/>
                  </a:schemeClr>
                </a:solidFill>
                <a:latin typeface="Arial Rounded MT Bold" panose="020F0704030504030204" pitchFamily="34" charset="77"/>
              </a:rPr>
              <a:t>Information Systems Project Management</a:t>
            </a:r>
            <a:endParaRPr lang="en-US" dirty="0">
              <a:solidFill>
                <a:schemeClr val="tx1">
                  <a:alpha val="21150"/>
                </a:scheme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7" name="Slide Number Placeholder 19">
            <a:extLst>
              <a:ext uri="{FF2B5EF4-FFF2-40B4-BE49-F238E27FC236}">
                <a16:creationId xmlns:a16="http://schemas.microsoft.com/office/drawing/2014/main" id="{38EE32D4-B077-CF11-4BFB-1D6F27356EC1}"/>
              </a:ext>
            </a:extLst>
          </p:cNvPr>
          <p:cNvSpPr txBox="1">
            <a:spLocks/>
          </p:cNvSpPr>
          <p:nvPr/>
        </p:nvSpPr>
        <p:spPr>
          <a:xfrm>
            <a:off x="9133042" y="6192535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3465FC-E090-F84E-8C07-F1BBD0C8CE12}" type="slidenum">
              <a:rPr lang="en-US" sz="4000" smtClean="0">
                <a:solidFill>
                  <a:srgbClr val="FFC000">
                    <a:alpha val="21150"/>
                  </a:srgbClr>
                </a:solidFill>
                <a:latin typeface="Arial Rounded MT Bold" panose="020F0704030504030204" pitchFamily="34" charset="77"/>
              </a:rPr>
              <a:pPr/>
              <a:t>2</a:t>
            </a:fld>
            <a:endParaRPr lang="en-US" sz="4000" dirty="0">
              <a:solidFill>
                <a:srgbClr val="FFC000">
                  <a:alpha val="21150"/>
                </a:srgb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202B81D-F1C2-832A-AFDA-43CF7FB3C086}"/>
              </a:ext>
            </a:extLst>
          </p:cNvPr>
          <p:cNvSpPr/>
          <p:nvPr/>
        </p:nvSpPr>
        <p:spPr>
          <a:xfrm>
            <a:off x="376959" y="6422136"/>
            <a:ext cx="138791" cy="13879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B637CA4-713B-1482-8C6F-60B7B88FE8E8}"/>
              </a:ext>
            </a:extLst>
          </p:cNvPr>
          <p:cNvSpPr/>
          <p:nvPr/>
        </p:nvSpPr>
        <p:spPr>
          <a:xfrm>
            <a:off x="540907" y="6607264"/>
            <a:ext cx="969590" cy="45719"/>
          </a:xfrm>
          <a:prstGeom prst="roundRect">
            <a:avLst>
              <a:gd name="adj" fmla="val 50000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51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repeatCount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animClr clrSpc="rgb" dir="cw">
                                      <p:cBhvr>
                                        <p:cTn id="7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1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10"/>
                            </p:stCondLst>
                            <p:childTnLst>
                              <p:par>
                                <p:cTn id="15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30F6613-E637-CAD3-E0D5-D83974C47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25" t="9353" r="11805" b="12916"/>
          <a:stretch>
            <a:fillRect/>
          </a:stretch>
        </p:blipFill>
        <p:spPr>
          <a:xfrm>
            <a:off x="1129665" y="2133600"/>
            <a:ext cx="3714749" cy="2286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E805A790-EAA8-D70A-727D-1B8630DB8B5C}"/>
              </a:ext>
            </a:extLst>
          </p:cNvPr>
          <p:cNvSpPr/>
          <p:nvPr/>
        </p:nvSpPr>
        <p:spPr>
          <a:xfrm>
            <a:off x="2384211" y="1296332"/>
            <a:ext cx="1205656" cy="1205656"/>
          </a:xfrm>
          <a:prstGeom prst="ellipse">
            <a:avLst/>
          </a:prstGeom>
          <a:solidFill>
            <a:schemeClr val="bg1">
              <a:alpha val="20000"/>
            </a:schemeClr>
          </a:solidFill>
          <a:ln w="12700">
            <a:noFill/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-606067" y="0"/>
            <a:ext cx="13411200" cy="1341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8288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Arial Rounded MT Bold" panose="020F0704030504030204" pitchFamily="34" charset="77"/>
                <a:ea typeface="Cambria" pitchFamily="34" charset="-122"/>
                <a:cs typeface="Cambria" pitchFamily="34" charset="-120"/>
              </a:rPr>
              <a:t>Waterfall &amp; Agile</a:t>
            </a:r>
            <a:endParaRPr lang="en-US" sz="4000" dirty="0">
              <a:latin typeface="Arial Rounded MT Bold" panose="020F0704030504030204" pitchFamily="34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584960"/>
            <a:ext cx="505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2E5FA3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Waterfall</a:t>
            </a:r>
            <a:endParaRPr lang="en-US" sz="2133" dirty="0">
              <a:latin typeface="Arial Rounded MT Bold" panose="020F0704030504030204" pitchFamily="34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4359116"/>
            <a:ext cx="5120640" cy="1889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1C2B3A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Sequential, </a:t>
            </a:r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1C2B3A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Requirements fixed </a:t>
            </a:r>
            <a:endParaRPr lang="en-US" sz="1467" dirty="0">
              <a:latin typeface="Arial Rounded MT Bold" panose="020F0704030504030204" pitchFamily="34" charset="77"/>
            </a:endParaRPr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1C2B3A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One final delivery</a:t>
            </a:r>
            <a:endParaRPr lang="en-US" sz="1467" dirty="0">
              <a:latin typeface="Arial Rounded MT Bold" panose="020F0704030504030204" pitchFamily="34" charset="77"/>
            </a:endParaRPr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1C2B3A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High risk rate </a:t>
            </a:r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1C2B3A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Best for: stable needs, fixed budgets</a:t>
            </a:r>
            <a:endParaRPr lang="en-US" sz="1467" dirty="0">
              <a:latin typeface="Arial Rounded MT Bold" panose="020F0704030504030204" pitchFamily="34" charset="77"/>
            </a:endParaRPr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1C2B3A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Phases: Requirements → Design → Build → Test → Deploy → Maintain</a:t>
            </a:r>
            <a:endParaRPr lang="en-US" sz="1467" dirty="0">
              <a:latin typeface="Arial Rounded MT Bold" panose="020F0704030504030204" pitchFamily="34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547360" y="3291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6522720" y="1584960"/>
            <a:ext cx="505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0D8F8F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Agile</a:t>
            </a:r>
            <a:endParaRPr lang="en-US" sz="2133" dirty="0">
              <a:latin typeface="Arial Rounded MT Bold" panose="020F0704030504030204" pitchFamily="34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2240" y="4200939"/>
            <a:ext cx="5120640" cy="2255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1C2B3A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Iterative sprints</a:t>
            </a:r>
            <a:endParaRPr lang="en-US" sz="1467" dirty="0">
              <a:latin typeface="Arial Rounded MT Bold" panose="020F0704030504030204" pitchFamily="34" charset="77"/>
            </a:endParaRPr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1C2B3A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Requirements evolves</a:t>
            </a:r>
            <a:endParaRPr lang="en-US" sz="1467" dirty="0">
              <a:latin typeface="Arial Rounded MT Bold" panose="020F0704030504030204" pitchFamily="34" charset="77"/>
            </a:endParaRPr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1C2B3A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Lower risk</a:t>
            </a:r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1C2B3A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issues caught early</a:t>
            </a:r>
            <a:endParaRPr lang="en-US" sz="1467" dirty="0">
              <a:latin typeface="Arial Rounded MT Bold" panose="020F0704030504030204" pitchFamily="34" charset="77"/>
            </a:endParaRPr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1C2B3A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Best for: dynamic needs, fast-changing markets</a:t>
            </a:r>
            <a:endParaRPr lang="en-US" sz="1467" dirty="0">
              <a:latin typeface="Arial Rounded MT Bold" panose="020F0704030504030204" pitchFamily="34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E36DCF-1A33-B014-DCEF-7D60E197ABF1}"/>
              </a:ext>
            </a:extLst>
          </p:cNvPr>
          <p:cNvSpPr/>
          <p:nvPr/>
        </p:nvSpPr>
        <p:spPr>
          <a:xfrm>
            <a:off x="5828386" y="1584959"/>
            <a:ext cx="159459" cy="457295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7C0485-5014-C2A3-DC70-6996469CFEA2}"/>
              </a:ext>
            </a:extLst>
          </p:cNvPr>
          <p:cNvSpPr txBox="1"/>
          <p:nvPr/>
        </p:nvSpPr>
        <p:spPr>
          <a:xfrm>
            <a:off x="1253361" y="4145145"/>
            <a:ext cx="19491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Eurostile" panose="020B0504020202050204" pitchFamily="34" charset="77"/>
                <a:cs typeface="Baloo 2" panose="03080502040302020200" pitchFamily="66" charset="77"/>
              </a:rPr>
              <a:t>Source :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latin typeface="Eurostile" panose="020B0504020202050204" pitchFamily="34" charset="77"/>
                <a:cs typeface="Baloo 2" panose="03080502040302020200" pitchFamily="66" charset="77"/>
              </a:rPr>
              <a:t>Kitchen.co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Eurostile" panose="020B0504020202050204" pitchFamily="34" charset="77"/>
              <a:cs typeface="Baloo 2" panose="03080502040302020200" pitchFamily="66" charset="7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CC23F0F-309C-04D0-F39B-9BFAA89488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08" t="10972" r="7050" b="9826"/>
          <a:stretch>
            <a:fillRect/>
          </a:stretch>
        </p:blipFill>
        <p:spPr>
          <a:xfrm>
            <a:off x="7347585" y="2133600"/>
            <a:ext cx="3598711" cy="18844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FD3F157-FA88-B64B-AD91-4468F636B9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687"/>
          <a:stretch>
            <a:fillRect/>
          </a:stretch>
        </p:blipFill>
        <p:spPr>
          <a:xfrm>
            <a:off x="6763473" y="2316480"/>
            <a:ext cx="4394646" cy="186171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1C9B59-C630-5AFE-9D28-1C6FF14D21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9505" y="2434407"/>
            <a:ext cx="2939143" cy="164592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5A429D1-7D0C-D4FC-94A4-C51ED06A2C5D}"/>
              </a:ext>
            </a:extLst>
          </p:cNvPr>
          <p:cNvSpPr txBox="1"/>
          <p:nvPr/>
        </p:nvSpPr>
        <p:spPr>
          <a:xfrm>
            <a:off x="6925666" y="4175855"/>
            <a:ext cx="19491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Eurostile" panose="020B0504020202050204" pitchFamily="34" charset="77"/>
                <a:cs typeface="Baloo 2" panose="03080502040302020200" pitchFamily="66" charset="77"/>
              </a:rPr>
              <a:t>Source :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latin typeface="Eurostile" panose="020B0504020202050204" pitchFamily="34" charset="77"/>
                <a:cs typeface="Baloo 2" panose="03080502040302020200" pitchFamily="66" charset="77"/>
              </a:rPr>
              <a:t>www.wrike.com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Eurostile" panose="020B0504020202050204" pitchFamily="34" charset="77"/>
              <a:cs typeface="Baloo 2" panose="03080502040302020200" pitchFamily="66" charset="77"/>
            </a:endParaRPr>
          </a:p>
        </p:txBody>
      </p:sp>
      <p:sp>
        <p:nvSpPr>
          <p:cNvPr id="12" name="Slide Number Placeholder 19">
            <a:extLst>
              <a:ext uri="{FF2B5EF4-FFF2-40B4-BE49-F238E27FC236}">
                <a16:creationId xmlns:a16="http://schemas.microsoft.com/office/drawing/2014/main" id="{19868DBA-EB68-7741-5926-B174D0005573}"/>
              </a:ext>
            </a:extLst>
          </p:cNvPr>
          <p:cNvSpPr txBox="1">
            <a:spLocks/>
          </p:cNvSpPr>
          <p:nvPr/>
        </p:nvSpPr>
        <p:spPr>
          <a:xfrm>
            <a:off x="9133042" y="6192535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3465FC-E090-F84E-8C07-F1BBD0C8CE12}" type="slidenum">
              <a:rPr lang="en-US" sz="4000" smtClean="0">
                <a:solidFill>
                  <a:srgbClr val="FFC000">
                    <a:alpha val="21150"/>
                  </a:srgbClr>
                </a:solidFill>
                <a:latin typeface="Arial Rounded MT Bold" panose="020F0704030504030204" pitchFamily="34" charset="77"/>
              </a:rPr>
              <a:pPr/>
              <a:t>3</a:t>
            </a:fld>
            <a:endParaRPr lang="en-US" sz="4000" dirty="0">
              <a:solidFill>
                <a:srgbClr val="FFC000">
                  <a:alpha val="21150"/>
                </a:srgb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3BF646-09DB-5E64-A102-5929E11D2F5E}"/>
              </a:ext>
            </a:extLst>
          </p:cNvPr>
          <p:cNvSpPr txBox="1"/>
          <p:nvPr/>
        </p:nvSpPr>
        <p:spPr>
          <a:xfrm>
            <a:off x="446354" y="6283651"/>
            <a:ext cx="491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>
                    <a:alpha val="21150"/>
                  </a:schemeClr>
                </a:solidFill>
                <a:latin typeface="Arial Rounded MT Bold" panose="020F0704030504030204" pitchFamily="34" charset="77"/>
              </a:rPr>
              <a:t>Information Systems Project Management</a:t>
            </a:r>
            <a:endParaRPr lang="en-US" dirty="0">
              <a:solidFill>
                <a:schemeClr val="tx1">
                  <a:alpha val="21150"/>
                </a:scheme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4ABE080-D5AE-ABEB-B621-C756EE0E8703}"/>
              </a:ext>
            </a:extLst>
          </p:cNvPr>
          <p:cNvSpPr/>
          <p:nvPr/>
        </p:nvSpPr>
        <p:spPr>
          <a:xfrm>
            <a:off x="540907" y="6607263"/>
            <a:ext cx="1426790" cy="45719"/>
          </a:xfrm>
          <a:prstGeom prst="roundRect">
            <a:avLst>
              <a:gd name="adj" fmla="val 50000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689761"/>
              </p:ext>
            </p:extLst>
          </p:nvPr>
        </p:nvGraphicFramePr>
        <p:xfrm>
          <a:off x="487680" y="1790072"/>
          <a:ext cx="11216639" cy="4215376"/>
        </p:xfrm>
        <a:graphic>
          <a:graphicData uri="http://schemas.openxmlformats.org/drawingml/2006/table">
            <a:tbl>
              <a:tblPr firstRow="1" firstCol="1" bandCol="1">
                <a:tableStyleId>{3C2FFA5D-87B4-456A-9821-1D502468CF0F}</a:tableStyleId>
              </a:tblPr>
              <a:tblGrid>
                <a:gridCol w="2505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5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5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92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Waterfall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Agile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solidFill>
                      <a:srgbClr val="FF9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9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Approach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Linear &amp; sequential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Iterative &amp; incremental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9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Flexibility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Low – changes costly mid-project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High – changes welcomed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9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Customer Feedback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End of project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After every sprint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9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Delivery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One final product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Incremental, usable releases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9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Risk Profile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High risk at delivery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Risk spread across iterations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69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Team Structure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Functional departments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Cross-functional teams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69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Best Fit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Stable scope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Evolving scope / dynamic markets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278BA04-31E1-0111-9BCD-E0B0A8E15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970" y="1341120"/>
            <a:ext cx="7772400" cy="437197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8288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Differences at a Glance</a:t>
            </a:r>
            <a:endParaRPr lang="en-US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839E8-3F1B-94E4-09AA-7898377CC4A9}"/>
              </a:ext>
            </a:extLst>
          </p:cNvPr>
          <p:cNvSpPr txBox="1"/>
          <p:nvPr/>
        </p:nvSpPr>
        <p:spPr>
          <a:xfrm>
            <a:off x="9920124" y="6068207"/>
            <a:ext cx="19491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latin typeface="Eurostile" panose="020B0504020202050204" pitchFamily="34" charset="77"/>
                <a:cs typeface="Baloo 2" panose="03080502040302020200" pitchFamily="66" charset="77"/>
              </a:rPr>
              <a:t>Source : www.easy8.com</a:t>
            </a:r>
          </a:p>
        </p:txBody>
      </p:sp>
      <p:sp>
        <p:nvSpPr>
          <p:cNvPr id="11" name="Slide Number Placeholder 19">
            <a:extLst>
              <a:ext uri="{FF2B5EF4-FFF2-40B4-BE49-F238E27FC236}">
                <a16:creationId xmlns:a16="http://schemas.microsoft.com/office/drawing/2014/main" id="{62A2113E-B5D9-E7A2-FFA1-0AA8615723A3}"/>
              </a:ext>
            </a:extLst>
          </p:cNvPr>
          <p:cNvSpPr txBox="1">
            <a:spLocks/>
          </p:cNvSpPr>
          <p:nvPr/>
        </p:nvSpPr>
        <p:spPr>
          <a:xfrm>
            <a:off x="9133042" y="6192535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3465FC-E090-F84E-8C07-F1BBD0C8CE12}" type="slidenum">
              <a:rPr lang="en-US" sz="4000" smtClean="0">
                <a:solidFill>
                  <a:srgbClr val="FFC000">
                    <a:alpha val="21150"/>
                  </a:srgbClr>
                </a:solidFill>
                <a:latin typeface="Arial Rounded MT Bold" panose="020F0704030504030204" pitchFamily="34" charset="77"/>
              </a:rPr>
              <a:pPr/>
              <a:t>4</a:t>
            </a:fld>
            <a:endParaRPr lang="en-US" sz="4000" dirty="0">
              <a:solidFill>
                <a:srgbClr val="FFC000">
                  <a:alpha val="21150"/>
                </a:srgb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77E353-E699-FFC6-8B17-F2B8D742DDB4}"/>
              </a:ext>
            </a:extLst>
          </p:cNvPr>
          <p:cNvSpPr txBox="1"/>
          <p:nvPr/>
        </p:nvSpPr>
        <p:spPr>
          <a:xfrm>
            <a:off x="446354" y="6283651"/>
            <a:ext cx="491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>
                    <a:alpha val="21150"/>
                  </a:schemeClr>
                </a:solidFill>
                <a:latin typeface="Arial Rounded MT Bold" panose="020F0704030504030204" pitchFamily="34" charset="77"/>
              </a:rPr>
              <a:t>Information Systems Project Management</a:t>
            </a:r>
            <a:endParaRPr lang="en-US" dirty="0">
              <a:solidFill>
                <a:schemeClr val="tx1">
                  <a:alpha val="21150"/>
                </a:scheme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50D5AA3-AA8E-E400-1B59-A59862D75EF9}"/>
              </a:ext>
            </a:extLst>
          </p:cNvPr>
          <p:cNvSpPr/>
          <p:nvPr/>
        </p:nvSpPr>
        <p:spPr>
          <a:xfrm>
            <a:off x="540906" y="6607263"/>
            <a:ext cx="2520598" cy="45719"/>
          </a:xfrm>
          <a:prstGeom prst="roundRect">
            <a:avLst>
              <a:gd name="adj" fmla="val 50000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  <p:bldP spid="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376959" y="2861980"/>
            <a:ext cx="5547360" cy="1200912"/>
          </a:xfrm>
          <a:prstGeom prst="roundRect">
            <a:avLst>
              <a:gd name="adj" fmla="val 5385"/>
            </a:avLst>
          </a:prstGeom>
          <a:solidFill>
            <a:srgbClr val="EAF3FB"/>
          </a:solidFill>
          <a:ln w="12700">
            <a:solidFill>
              <a:srgbClr val="C8DD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9839" y="3115056"/>
            <a:ext cx="5120640" cy="957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Practical Scrum case study (3-month project)</a:t>
            </a:r>
            <a:endParaRPr lang="en-US" sz="1400" dirty="0"/>
          </a:p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comparison metrics: scope, time, cost, ROI</a:t>
            </a:r>
            <a:endParaRPr lang="en-US" sz="1400" dirty="0"/>
          </a:p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both Scrum &amp; Kanban in detail</a:t>
            </a:r>
            <a:endParaRPr lang="en-US" sz="14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2D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97536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3E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Critique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Fagarasan</a:t>
            </a:r>
            <a:r>
              <a:rPr lang="en-US" sz="26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et al. , 2021</a:t>
            </a:r>
            <a:endParaRPr lang="en-US" sz="2667" dirty="0"/>
          </a:p>
        </p:txBody>
      </p:sp>
      <p:sp>
        <p:nvSpPr>
          <p:cNvPr id="7" name="Shape 5"/>
          <p:cNvSpPr/>
          <p:nvPr/>
        </p:nvSpPr>
        <p:spPr>
          <a:xfrm>
            <a:off x="376959" y="1688592"/>
            <a:ext cx="5547360" cy="1005840"/>
          </a:xfrm>
          <a:prstGeom prst="roundRect">
            <a:avLst>
              <a:gd name="adj" fmla="val 5385"/>
            </a:avLst>
          </a:prstGeom>
          <a:solidFill>
            <a:srgbClr val="EAF3FB"/>
          </a:solidFill>
          <a:ln w="12700">
            <a:solidFill>
              <a:srgbClr val="C8DD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0807" y="1706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9839" y="1938528"/>
            <a:ext cx="5120640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Agile (Scrum &amp; Kanban) as a more viable alternative to Waterfall for IT project delivery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0079" y="1697828"/>
            <a:ext cx="5547360" cy="1146048"/>
          </a:xfrm>
          <a:prstGeom prst="roundRect">
            <a:avLst>
              <a:gd name="adj" fmla="val 5385"/>
            </a:avLst>
          </a:prstGeom>
          <a:solidFill>
            <a:srgbClr val="EAF3FB"/>
          </a:solidFill>
          <a:ln w="12700">
            <a:solidFill>
              <a:srgbClr val="C8DD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87869" y="1706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 Findings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1760" y="1840992"/>
            <a:ext cx="512064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Agile 3× more successful outcomes than Waterfall</a:t>
            </a:r>
            <a:endParaRPr lang="en-US" sz="1400" dirty="0"/>
          </a:p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Scrum dominates with 58% adoption rate</a:t>
            </a:r>
            <a:endParaRPr lang="en-US" sz="1400" dirty="0"/>
          </a:p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Iterative delivery significantly reduces end-of-project 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8647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90079" y="2990088"/>
            <a:ext cx="5547360" cy="1085088"/>
          </a:xfrm>
          <a:prstGeom prst="roundRect">
            <a:avLst>
              <a:gd name="adj" fmla="val 5385"/>
            </a:avLst>
          </a:prstGeom>
          <a:solidFill>
            <a:srgbClr val="EAF3FB"/>
          </a:solidFill>
          <a:ln w="12700">
            <a:solidFill>
              <a:srgbClr val="C8DD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7869" y="299184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7869" y="3096860"/>
            <a:ext cx="512064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to IT/software sector only</a:t>
            </a:r>
            <a:endParaRPr lang="en-US" sz="1400" dirty="0"/>
          </a:p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quantitative data from original projects</a:t>
            </a:r>
            <a:endParaRPr lang="en-US" sz="1400" dirty="0"/>
          </a:p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Excludes hybrid methodology analysis</a:t>
            </a:r>
            <a:endParaRPr lang="en-US" sz="1400" dirty="0"/>
          </a:p>
        </p:txBody>
      </p:sp>
      <p:sp>
        <p:nvSpPr>
          <p:cNvPr id="24" name="Slide Number Placeholder 19">
            <a:extLst>
              <a:ext uri="{FF2B5EF4-FFF2-40B4-BE49-F238E27FC236}">
                <a16:creationId xmlns:a16="http://schemas.microsoft.com/office/drawing/2014/main" id="{BC3D952B-DA70-877F-336F-293FCEEE6C20}"/>
              </a:ext>
            </a:extLst>
          </p:cNvPr>
          <p:cNvSpPr txBox="1">
            <a:spLocks/>
          </p:cNvSpPr>
          <p:nvPr/>
        </p:nvSpPr>
        <p:spPr>
          <a:xfrm>
            <a:off x="9133042" y="6192535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3465FC-E090-F84E-8C07-F1BBD0C8CE12}" type="slidenum">
              <a:rPr lang="en-US" sz="4000" smtClean="0">
                <a:solidFill>
                  <a:srgbClr val="FFC000">
                    <a:alpha val="21150"/>
                  </a:srgbClr>
                </a:solidFill>
                <a:latin typeface="Arial Rounded MT Bold" panose="020F0704030504030204" pitchFamily="34" charset="77"/>
              </a:rPr>
              <a:pPr/>
              <a:t>5</a:t>
            </a:fld>
            <a:endParaRPr lang="en-US" sz="4000" dirty="0">
              <a:solidFill>
                <a:srgbClr val="FFC000">
                  <a:alpha val="21150"/>
                </a:srgb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2CCE1D-B0CD-D191-F0AC-4EB99B142CD4}"/>
              </a:ext>
            </a:extLst>
          </p:cNvPr>
          <p:cNvSpPr txBox="1"/>
          <p:nvPr/>
        </p:nvSpPr>
        <p:spPr>
          <a:xfrm>
            <a:off x="446354" y="6283651"/>
            <a:ext cx="491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>
                    <a:alpha val="21150"/>
                  </a:schemeClr>
                </a:solidFill>
                <a:latin typeface="Arial Rounded MT Bold" panose="020F0704030504030204" pitchFamily="34" charset="77"/>
              </a:rPr>
              <a:t>Information Systems Project Management</a:t>
            </a:r>
            <a:endParaRPr lang="en-US" dirty="0">
              <a:solidFill>
                <a:schemeClr val="tx1">
                  <a:alpha val="21150"/>
                </a:scheme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C0410BC-AA48-FCA1-27B8-80B84B789A7C}"/>
              </a:ext>
            </a:extLst>
          </p:cNvPr>
          <p:cNvSpPr/>
          <p:nvPr/>
        </p:nvSpPr>
        <p:spPr>
          <a:xfrm>
            <a:off x="540906" y="6604924"/>
            <a:ext cx="3504446" cy="48059"/>
          </a:xfrm>
          <a:prstGeom prst="roundRect">
            <a:avLst>
              <a:gd name="adj" fmla="val 50000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A6045"/>
          </a:solidFill>
          <a:ln w="12700">
            <a:solidFill>
              <a:srgbClr val="1A60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97536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7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Critique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Ghena et al. (2023)</a:t>
            </a:r>
            <a:endParaRPr lang="en-US" sz="2667" dirty="0"/>
          </a:p>
        </p:txBody>
      </p:sp>
      <p:sp>
        <p:nvSpPr>
          <p:cNvPr id="7" name="Shape 5"/>
          <p:cNvSpPr/>
          <p:nvPr/>
        </p:nvSpPr>
        <p:spPr>
          <a:xfrm>
            <a:off x="365760" y="1701341"/>
            <a:ext cx="5547360" cy="1173480"/>
          </a:xfrm>
          <a:prstGeom prst="roundRect">
            <a:avLst>
              <a:gd name="adj" fmla="val 5385"/>
            </a:avLst>
          </a:prstGeom>
          <a:solidFill>
            <a:srgbClr val="EFF9F4"/>
          </a:solidFill>
          <a:ln w="12700">
            <a:solidFill>
              <a:srgbClr val="B4DE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7449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6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969565"/>
            <a:ext cx="512064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Waterfall &amp; Agile in the power tools industry; survey of 30 engineers across Industry 4.0 &amp; 5.0 context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8880" y="1701341"/>
            <a:ext cx="5547360" cy="1173480"/>
          </a:xfrm>
          <a:prstGeom prst="roundRect">
            <a:avLst>
              <a:gd name="adj" fmla="val 5385"/>
            </a:avLst>
          </a:prstGeom>
          <a:solidFill>
            <a:srgbClr val="EFF9F4"/>
          </a:solidFill>
          <a:ln w="12700">
            <a:solidFill>
              <a:srgbClr val="B4DE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1760" y="177449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6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1760" y="1891188"/>
            <a:ext cx="512064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67% of engineers prefer Agile for power tool projects</a:t>
            </a:r>
            <a:endParaRPr lang="en-US" sz="1400" dirty="0"/>
          </a:p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Hybrid models widely used (27%)</a:t>
            </a:r>
            <a:endParaRPr lang="en-US" sz="1400" dirty="0"/>
          </a:p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Waterfall still relevant for regulated, fixed-budget projects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058282"/>
            <a:ext cx="5547360" cy="1263033"/>
          </a:xfrm>
          <a:prstGeom prst="roundRect">
            <a:avLst>
              <a:gd name="adj" fmla="val 5385"/>
            </a:avLst>
          </a:prstGeom>
          <a:solidFill>
            <a:srgbClr val="EFF9F4"/>
          </a:solidFill>
          <a:ln w="12700">
            <a:solidFill>
              <a:srgbClr val="B4DE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13143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6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256547"/>
            <a:ext cx="5120640" cy="1072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research (survey + literature review)</a:t>
            </a:r>
            <a:endParaRPr lang="en-US" sz="1400" dirty="0"/>
          </a:p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Industry 4.0/5.0 context is highly current</a:t>
            </a:r>
            <a:endParaRPr lang="en-US" sz="1400" dirty="0"/>
          </a:p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applicability criteria for method selection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880" y="3032301"/>
            <a:ext cx="5547360" cy="1263033"/>
          </a:xfrm>
          <a:prstGeom prst="roundRect">
            <a:avLst>
              <a:gd name="adj" fmla="val 5385"/>
            </a:avLst>
          </a:prstGeom>
          <a:solidFill>
            <a:srgbClr val="EFF9F4"/>
          </a:solidFill>
          <a:ln w="12700">
            <a:solidFill>
              <a:srgbClr val="B4DE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1760" y="310545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6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1760" y="3276139"/>
            <a:ext cx="5120640" cy="101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sample: only 30 engineers</a:t>
            </a:r>
            <a:endParaRPr lang="en-US" sz="1400" dirty="0"/>
          </a:p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Focused on power tools industry – limited generalisability</a:t>
            </a:r>
            <a:endParaRPr lang="en-US" sz="1400" dirty="0"/>
          </a:p>
          <a:p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Subjective survey responses may introduce bias</a:t>
            </a:r>
            <a:endParaRPr lang="en-US" sz="1400" dirty="0"/>
          </a:p>
        </p:txBody>
      </p:sp>
      <p:sp>
        <p:nvSpPr>
          <p:cNvPr id="24" name="Slide Number Placeholder 19">
            <a:extLst>
              <a:ext uri="{FF2B5EF4-FFF2-40B4-BE49-F238E27FC236}">
                <a16:creationId xmlns:a16="http://schemas.microsoft.com/office/drawing/2014/main" id="{838A6BA5-603B-7703-282B-1B89C1B7BE40}"/>
              </a:ext>
            </a:extLst>
          </p:cNvPr>
          <p:cNvSpPr txBox="1">
            <a:spLocks/>
          </p:cNvSpPr>
          <p:nvPr/>
        </p:nvSpPr>
        <p:spPr>
          <a:xfrm>
            <a:off x="9133042" y="6192535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3465FC-E090-F84E-8C07-F1BBD0C8CE12}" type="slidenum">
              <a:rPr lang="en-US" sz="4000" smtClean="0">
                <a:solidFill>
                  <a:srgbClr val="FFC000">
                    <a:alpha val="21150"/>
                  </a:srgbClr>
                </a:solidFill>
                <a:latin typeface="Arial Rounded MT Bold" panose="020F0704030504030204" pitchFamily="34" charset="77"/>
              </a:rPr>
              <a:pPr/>
              <a:t>6</a:t>
            </a:fld>
            <a:endParaRPr lang="en-US" sz="4000" dirty="0">
              <a:solidFill>
                <a:srgbClr val="FFC000">
                  <a:alpha val="21150"/>
                </a:srgb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5BAEBE-F77D-E8E3-7CA8-793A59550798}"/>
              </a:ext>
            </a:extLst>
          </p:cNvPr>
          <p:cNvSpPr txBox="1"/>
          <p:nvPr/>
        </p:nvSpPr>
        <p:spPr>
          <a:xfrm>
            <a:off x="446354" y="6283651"/>
            <a:ext cx="491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>
                    <a:alpha val="21150"/>
                  </a:schemeClr>
                </a:solidFill>
                <a:latin typeface="Arial Rounded MT Bold" panose="020F0704030504030204" pitchFamily="34" charset="77"/>
              </a:rPr>
              <a:t>Information Systems Project Management</a:t>
            </a:r>
            <a:endParaRPr lang="en-US" dirty="0">
              <a:solidFill>
                <a:schemeClr val="tx1">
                  <a:alpha val="21150"/>
                </a:scheme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BA1CA0F-B721-39D8-9B3F-A67D2DCD916D}"/>
              </a:ext>
            </a:extLst>
          </p:cNvPr>
          <p:cNvSpPr/>
          <p:nvPr/>
        </p:nvSpPr>
        <p:spPr>
          <a:xfrm>
            <a:off x="540906" y="6607264"/>
            <a:ext cx="3961646" cy="45719"/>
          </a:xfrm>
          <a:prstGeom prst="roundRect">
            <a:avLst>
              <a:gd name="adj" fmla="val 50000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04800"/>
            <a:ext cx="107289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4800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158240"/>
            <a:ext cx="4267200" cy="48768"/>
          </a:xfrm>
          <a:prstGeom prst="rect">
            <a:avLst/>
          </a:prstGeom>
          <a:solidFill>
            <a:srgbClr val="3EC6C6"/>
          </a:solidFill>
          <a:ln w="12700">
            <a:solidFill>
              <a:srgbClr val="3EC6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3E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Holmes Institute Adapted Harvard Referencing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1219200" y="1908936"/>
            <a:ext cx="102412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467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Fagarasan</a:t>
            </a:r>
            <a:r>
              <a:rPr lang="en-US" sz="1467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C., Popa, O., Pisla, A. &amp; Cristea, C. 2021, 'Agile, waterfall and iterative approach in information technology projects', IOP Conference Series: Materials Science and Engineering, vol. 1169, no. 1.</a:t>
            </a:r>
          </a:p>
          <a:p>
            <a:r>
              <a:rPr lang="en-US" sz="1467" dirty="0">
                <a:solidFill>
                  <a:srgbClr val="FF93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https://www.proquest.com/scholarly-journals/agile-waterfall-iterative-approach-information/docview/2561948753/se-2?accountid=30552</a:t>
            </a:r>
            <a:endParaRPr lang="en-US" sz="1467" dirty="0">
              <a:solidFill>
                <a:srgbClr val="FF9300"/>
              </a:solidFill>
            </a:endParaRPr>
          </a:p>
          <a:p>
            <a:endParaRPr lang="en-US" sz="1467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219200" y="3554856"/>
            <a:ext cx="102412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Ghena, M.F. &amp; Ghiculescu, L.D. 2023, 'Applicability of Waterfall and Agile Methodologies', FAIMA Business &amp; Management Journal, vol. 11, no. 4, pp. 55–65.</a:t>
            </a:r>
            <a:r>
              <a:rPr lang="en-US" sz="1467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https://www.proquest.com/scholarly-journals/applicability-waterfall-agile-methodologies/docview/2903041222/se-2?accountid=30552</a:t>
            </a:r>
            <a:endParaRPr lang="en-US" sz="1467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19">
            <a:extLst>
              <a:ext uri="{FF2B5EF4-FFF2-40B4-BE49-F238E27FC236}">
                <a16:creationId xmlns:a16="http://schemas.microsoft.com/office/drawing/2014/main" id="{19CBE8FF-D86B-35F8-D10A-6978380CA81A}"/>
              </a:ext>
            </a:extLst>
          </p:cNvPr>
          <p:cNvSpPr txBox="1">
            <a:spLocks/>
          </p:cNvSpPr>
          <p:nvPr/>
        </p:nvSpPr>
        <p:spPr>
          <a:xfrm>
            <a:off x="9133042" y="6192535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3465FC-E090-F84E-8C07-F1BBD0C8CE12}" type="slidenum">
              <a:rPr lang="en-US" sz="4000" smtClean="0">
                <a:solidFill>
                  <a:srgbClr val="FFC000">
                    <a:alpha val="21150"/>
                  </a:srgbClr>
                </a:solidFill>
                <a:latin typeface="Arial Rounded MT Bold" panose="020F0704030504030204" pitchFamily="34" charset="77"/>
              </a:rPr>
              <a:pPr/>
              <a:t>7</a:t>
            </a:fld>
            <a:endParaRPr lang="en-US" sz="4000" dirty="0">
              <a:solidFill>
                <a:srgbClr val="FFC000">
                  <a:alpha val="21150"/>
                </a:srgb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0A16B3-2F34-BFED-D0C0-F064F72C475D}"/>
              </a:ext>
            </a:extLst>
          </p:cNvPr>
          <p:cNvSpPr txBox="1"/>
          <p:nvPr/>
        </p:nvSpPr>
        <p:spPr>
          <a:xfrm>
            <a:off x="446354" y="6283651"/>
            <a:ext cx="491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>
                    <a:alpha val="21150"/>
                  </a:schemeClr>
                </a:solidFill>
                <a:latin typeface="Arial Rounded MT Bold" panose="020F0704030504030204" pitchFamily="34" charset="77"/>
              </a:rPr>
              <a:t>Information Systems Project Management</a:t>
            </a:r>
            <a:endParaRPr lang="en-US" dirty="0">
              <a:solidFill>
                <a:schemeClr val="tx1">
                  <a:alpha val="21150"/>
                </a:schemeClr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B3F2BF9-82E3-F688-CED3-7CD8F0CF784C}"/>
              </a:ext>
            </a:extLst>
          </p:cNvPr>
          <p:cNvSpPr/>
          <p:nvPr/>
        </p:nvSpPr>
        <p:spPr>
          <a:xfrm>
            <a:off x="540906" y="6607264"/>
            <a:ext cx="4615616" cy="45719"/>
          </a:xfrm>
          <a:prstGeom prst="roundRect">
            <a:avLst>
              <a:gd name="adj" fmla="val 50000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1A6310B-436D-556E-2DC3-09721F278424}"/>
              </a:ext>
            </a:extLst>
          </p:cNvPr>
          <p:cNvSpPr/>
          <p:nvPr/>
        </p:nvSpPr>
        <p:spPr>
          <a:xfrm>
            <a:off x="2752057" y="2230230"/>
            <a:ext cx="6151858" cy="1457850"/>
          </a:xfrm>
          <a:prstGeom prst="roundRect">
            <a:avLst>
              <a:gd name="adj" fmla="val 50000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9439943" y="-1993892"/>
            <a:ext cx="4876800" cy="4876800"/>
          </a:xfrm>
          <a:prstGeom prst="ellipse">
            <a:avLst/>
          </a:prstGeom>
          <a:solidFill>
            <a:srgbClr val="2E5FA3">
              <a:alpha val="20000"/>
            </a:srgbClr>
          </a:solidFill>
          <a:ln w="12700">
            <a:solidFill>
              <a:srgbClr val="2E5FA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851097"/>
            <a:ext cx="3048000" cy="3048000"/>
          </a:xfrm>
          <a:prstGeom prst="ellipse">
            <a:avLst/>
          </a:prstGeom>
          <a:solidFill>
            <a:srgbClr val="3EC6C6">
              <a:alpha val="18000"/>
            </a:srgbClr>
          </a:solidFill>
          <a:ln w="12700">
            <a:solidFill>
              <a:srgbClr val="3EC6C6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1586" y="2349555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933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933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41586" y="3718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3EC6C6"/>
                </a:solidFill>
                <a:latin typeface="Arial Rounded MT Bold" panose="020F0704030504030204" pitchFamily="34" charset="77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200" dirty="0">
              <a:latin typeface="Arial Rounded MT Bold" panose="020F0704030504030204" pitchFamily="34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6400800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B829E"/>
                </a:solidFill>
                <a:latin typeface="Arial Rounded MT Bold" panose="020F0704030504030204" pitchFamily="34" charset="77"/>
                <a:ea typeface="Calibri" pitchFamily="34" charset="-122"/>
                <a:cs typeface="Calibri" pitchFamily="34" charset="-120"/>
              </a:rPr>
              <a:t>Tanvir Tonoy ·  HS2061  ·  Holmes Institute  ·  T1 2026</a:t>
            </a:r>
            <a:endParaRPr lang="en-US" sz="1200" dirty="0">
              <a:latin typeface="Arial Rounded MT Bold" panose="020F0704030504030204" pitchFamily="34" charset="77"/>
            </a:endParaRPr>
          </a:p>
        </p:txBody>
      </p:sp>
      <p:sp>
        <p:nvSpPr>
          <p:cNvPr id="5" name="Slide Number Placeholder 19">
            <a:extLst>
              <a:ext uri="{FF2B5EF4-FFF2-40B4-BE49-F238E27FC236}">
                <a16:creationId xmlns:a16="http://schemas.microsoft.com/office/drawing/2014/main" id="{95EF139A-5A41-E043-7D9E-36197E95DB81}"/>
              </a:ext>
            </a:extLst>
          </p:cNvPr>
          <p:cNvSpPr txBox="1">
            <a:spLocks/>
          </p:cNvSpPr>
          <p:nvPr/>
        </p:nvSpPr>
        <p:spPr>
          <a:xfrm>
            <a:off x="9133042" y="6192535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3465FC-E090-F84E-8C07-F1BBD0C8CE12}" type="slidenum">
              <a:rPr lang="en-US" sz="4000" smtClean="0">
                <a:solidFill>
                  <a:srgbClr val="FFC000">
                    <a:alpha val="21150"/>
                  </a:srgbClr>
                </a:solidFill>
                <a:latin typeface="Arial Rounded MT Bold" panose="020F0704030504030204" pitchFamily="34" charset="77"/>
              </a:rPr>
              <a:pPr/>
              <a:t>8</a:t>
            </a:fld>
            <a:endParaRPr lang="en-US" sz="4000" dirty="0">
              <a:solidFill>
                <a:srgbClr val="FFC000">
                  <a:alpha val="21150"/>
                </a:srgbClr>
              </a:solidFill>
              <a:latin typeface="Arial Rounded MT Bold" panose="020F0704030504030204" pitchFamily="34" charset="7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509</TotalTime>
  <Words>602</Words>
  <Application>Microsoft Macintosh PowerPoint</Application>
  <PresentationFormat>Widescreen</PresentationFormat>
  <Paragraphs>127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Cambria</vt:lpstr>
      <vt:lpstr>Eurostile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TANBIR ISLAM</dc:creator>
  <cp:lastModifiedBy>TANBIR ISLAM</cp:lastModifiedBy>
  <cp:revision>163</cp:revision>
  <cp:lastPrinted>2026-06-10T00:34:53Z</cp:lastPrinted>
  <dcterms:created xsi:type="dcterms:W3CDTF">2026-05-11T21:32:32Z</dcterms:created>
  <dcterms:modified xsi:type="dcterms:W3CDTF">2026-06-11T01:02:49Z</dcterms:modified>
</cp:coreProperties>
</file>